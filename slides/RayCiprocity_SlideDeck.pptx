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147476231" r:id="rId2"/>
    <p:sldId id="256" r:id="rId3"/>
    <p:sldId id="257" r:id="rId4"/>
    <p:sldId id="258" r:id="rId5"/>
    <p:sldId id="259" r:id="rId6"/>
    <p:sldId id="260" r:id="rId7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57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08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296EEE8-F6C4-BC3E-14D2-F81CE412C5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9" b="59"/>
          <a:stretch/>
        </p:blipFill>
        <p:spPr>
          <a:xfrm>
            <a:off x="0" y="0"/>
            <a:ext cx="9154750" cy="68580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4A11F13-0D74-3E7C-1F99-7DCEEA472593}"/>
              </a:ext>
            </a:extLst>
          </p:cNvPr>
          <p:cNvSpPr/>
          <p:nvPr userDrawn="1"/>
        </p:nvSpPr>
        <p:spPr>
          <a:xfrm>
            <a:off x="9154750" y="0"/>
            <a:ext cx="3007088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5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6D093A4-2A60-6B97-2A27-5849A6C63770}"/>
              </a:ext>
            </a:extLst>
          </p:cNvPr>
          <p:cNvSpPr/>
          <p:nvPr userDrawn="1"/>
        </p:nvSpPr>
        <p:spPr>
          <a:xfrm>
            <a:off x="4894400" y="1281491"/>
            <a:ext cx="6496201" cy="4295021"/>
          </a:xfrm>
          <a:prstGeom prst="rect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52B7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5"/>
          </a:p>
        </p:txBody>
      </p:sp>
    </p:spTree>
    <p:extLst>
      <p:ext uri="{BB962C8B-B14F-4D97-AF65-F5344CB8AC3E}">
        <p14:creationId xmlns:p14="http://schemas.microsoft.com/office/powerpoint/2010/main" val="268576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8">
            <a:extLst>
              <a:ext uri="{FF2B5EF4-FFF2-40B4-BE49-F238E27FC236}">
                <a16:creationId xmlns:a16="http://schemas.microsoft.com/office/drawing/2014/main" id="{D6851685-46E3-32F2-E1EF-E0AA5AF39FD5}"/>
              </a:ext>
            </a:extLst>
          </p:cNvPr>
          <p:cNvSpPr txBox="1">
            <a:spLocks/>
          </p:cNvSpPr>
          <p:nvPr/>
        </p:nvSpPr>
        <p:spPr>
          <a:xfrm>
            <a:off x="5149517" y="1505051"/>
            <a:ext cx="6051980" cy="3687044"/>
          </a:xfrm>
          <a:prstGeom prst="rect">
            <a:avLst/>
          </a:prstGeom>
          <a:noFill/>
        </p:spPr>
        <p:txBody>
          <a:bodyPr lIns="35911" tIns="35911" rIns="35911" bIns="35911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0" lang="de-DE" sz="1800" b="1" i="0" u="none" strike="noStrike" kern="1200" cap="none" spc="0" normalizeH="0" baseline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nter Semi Bold" panose="020007030000000200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kern="1200" smtClean="0">
                <a:solidFill>
                  <a:schemeClr val="bg1"/>
                </a:solidFill>
                <a:latin typeface="Inter Semi Bold" panose="020007030000000200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kern="1200" smtClean="0">
                <a:solidFill>
                  <a:schemeClr val="bg1"/>
                </a:solidFill>
                <a:latin typeface="Inter Semi Bold" panose="020007030000000200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smtClean="0">
                <a:solidFill>
                  <a:schemeClr val="bg1"/>
                </a:solidFill>
                <a:latin typeface="Inter Semi Bold" panose="020007030000000200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bg1"/>
                </a:solidFill>
                <a:latin typeface="Inter Semi Bold" panose="020007030000000200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GB" sz="2793" noProof="0" dirty="0">
              <a:solidFill>
                <a:schemeClr val="tx1">
                  <a:lumMod val="85000"/>
                  <a:lumOff val="15000"/>
                </a:schemeClr>
              </a:solidFill>
              <a:latin typeface="Inter"/>
            </a:endParaRPr>
          </a:p>
          <a:p>
            <a:pPr marL="0" indent="0">
              <a:buNone/>
              <a:defRPr/>
            </a:pPr>
            <a:r>
              <a:rPr lang="en-GB" sz="54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RayCiprocity</a:t>
            </a:r>
          </a:p>
          <a:p>
            <a:pPr marL="0" indent="0">
              <a:buNone/>
              <a:defRPr/>
            </a:pPr>
            <a:endParaRPr lang="en-GB" sz="2793" b="0" noProof="0" dirty="0">
              <a:solidFill>
                <a:schemeClr val="tx1">
                  <a:lumMod val="85000"/>
                  <a:lumOff val="15000"/>
                </a:schemeClr>
              </a:solidFill>
              <a:latin typeface="Inter"/>
            </a:endParaRPr>
          </a:p>
          <a:p>
            <a:pPr marL="0" indent="0">
              <a:buNone/>
              <a:defRPr/>
            </a:pPr>
            <a:r>
              <a:rPr lang="en-GB" sz="2793" b="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AI Sales Copilot for Renewable Installers</a:t>
            </a:r>
          </a:p>
          <a:p>
            <a:pPr marL="0" indent="0">
              <a:buNone/>
              <a:defRPr/>
            </a:pPr>
            <a:r>
              <a:rPr lang="en-GB" sz="2000" b="0" i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Because Nudging is for Humans</a:t>
            </a:r>
          </a:p>
          <a:p>
            <a:pPr marL="0" indent="0">
              <a:buNone/>
              <a:defRPr/>
            </a:pPr>
            <a:endParaRPr lang="en-GB" sz="1397" b="0" noProof="0" dirty="0">
              <a:solidFill>
                <a:schemeClr val="tx1">
                  <a:lumMod val="85000"/>
                  <a:lumOff val="15000"/>
                </a:schemeClr>
              </a:solidFill>
              <a:latin typeface="Inter"/>
            </a:endParaRPr>
          </a:p>
          <a:p>
            <a:pPr marL="0" indent="0">
              <a:buNone/>
              <a:defRPr/>
            </a:pPr>
            <a:r>
              <a:rPr lang="en-GB" sz="1995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21</a:t>
            </a:r>
            <a:r>
              <a:rPr lang="en-GB" sz="1995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st</a:t>
            </a:r>
            <a:r>
              <a:rPr lang="en-GB" sz="1995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 </a:t>
            </a:r>
            <a:r>
              <a:rPr lang="en-GB" sz="1995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 June 2026</a:t>
            </a:r>
          </a:p>
          <a:p>
            <a:pPr marL="0" indent="0">
              <a:buNone/>
              <a:defRPr/>
            </a:pPr>
            <a:r>
              <a:rPr lang="en-GB" sz="1596" b="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{Tech: Europe} Energy x AI Hackathon – </a:t>
            </a:r>
            <a:r>
              <a:rPr lang="en-GB" sz="1596" b="0" noProof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Reonic</a:t>
            </a:r>
            <a:r>
              <a:rPr lang="en-GB" sz="1596" b="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 Path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E676F-D827-CAE3-043D-ED027192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559" y="76666"/>
            <a:ext cx="874876" cy="87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9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48640" y="658368"/>
            <a:ext cx="10241280" cy="0"/>
          </a:xfrm>
          <a:prstGeom prst="line">
            <a:avLst/>
          </a:prstGeom>
          <a:noFill/>
          <a:ln w="15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5" name="Image 1" descr="assets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430" y="310896"/>
            <a:ext cx="625450" cy="45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7" name="Text 3"/>
          <p:cNvSpPr/>
          <p:nvPr/>
        </p:nvSpPr>
        <p:spPr>
          <a:xfrm>
            <a:off x="548640" y="64190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r>
              <a:rPr lang="en-GB" sz="850" i="0" noProof="0" dirty="0" err="1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Tech:Europe</a:t>
            </a: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 AI × Energy Hackathon</a:t>
            </a:r>
            <a:endParaRPr lang="en-GB" sz="850" noProof="0" dirty="0"/>
          </a:p>
        </p:txBody>
      </p:sp>
      <p:sp>
        <p:nvSpPr>
          <p:cNvPr id="8" name="Text 4"/>
          <p:cNvSpPr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9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05</a:t>
            </a:r>
            <a:endParaRPr lang="en-GB" sz="900" noProof="0" dirty="0"/>
          </a:p>
        </p:txBody>
      </p:sp>
      <p:sp>
        <p:nvSpPr>
          <p:cNvPr id="9" name="Text 5"/>
          <p:cNvSpPr/>
          <p:nvPr/>
        </p:nvSpPr>
        <p:spPr>
          <a:xfrm>
            <a:off x="548640" y="9601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GB" sz="1300" b="1" kern="0" spc="20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RAYCIPROCITY</a:t>
            </a:r>
            <a:endParaRPr lang="en-GB" sz="1300" noProof="0" dirty="0"/>
          </a:p>
          <a:p>
            <a:pPr marL="0" indent="0">
              <a:lnSpc>
                <a:spcPct val="112000"/>
              </a:lnSpc>
              <a:buNone/>
            </a:pPr>
            <a:r>
              <a:rPr lang="en-GB" sz="105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Copilot for Renewable Installers</a:t>
            </a:r>
            <a:endParaRPr lang="en-GB" sz="1300" noProof="0" dirty="0"/>
          </a:p>
        </p:txBody>
      </p:sp>
      <p:sp>
        <p:nvSpPr>
          <p:cNvPr id="10" name="Text 6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GB" sz="26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deals die in the silence after the quote.</a:t>
            </a:r>
            <a:endParaRPr lang="en-GB" sz="2600" noProof="0" dirty="0"/>
          </a:p>
        </p:txBody>
      </p:sp>
      <p:sp>
        <p:nvSpPr>
          <p:cNvPr id="11" name="Text 7"/>
          <p:cNvSpPr/>
          <p:nvPr/>
        </p:nvSpPr>
        <p:spPr>
          <a:xfrm>
            <a:off x="548640" y="29260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GB" sz="1250" noProof="0" dirty="0" err="1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Reonic</a:t>
            </a: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gives installers a beautiful funnel — address → 3D → sizing → a polished offer PDF. </a:t>
            </a:r>
            <a:r>
              <a:rPr lang="en-GB" sz="1250" b="1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the offer is sent, and the funnel goes quiet</a:t>
            </a: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the homeowner compares three quotes and the installer is booked solid on rooftops.</a:t>
            </a:r>
            <a:endParaRPr lang="en-GB" sz="1250" noProof="0" dirty="0"/>
          </a:p>
        </p:txBody>
      </p:sp>
      <p:sp>
        <p:nvSpPr>
          <p:cNvPr id="12" name="Shape 8"/>
          <p:cNvSpPr/>
          <p:nvPr/>
        </p:nvSpPr>
        <p:spPr>
          <a:xfrm>
            <a:off x="6126480" y="2926080"/>
            <a:ext cx="5440680" cy="1188720"/>
          </a:xfrm>
          <a:prstGeom prst="rect">
            <a:avLst/>
          </a:prstGeom>
          <a:solidFill>
            <a:srgbClr val="F4FBF6"/>
          </a:solidFill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3" name="Shape 9"/>
          <p:cNvSpPr/>
          <p:nvPr/>
        </p:nvSpPr>
        <p:spPr>
          <a:xfrm>
            <a:off x="6126480" y="2926080"/>
            <a:ext cx="82296" cy="11887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Shape 10"/>
          <p:cNvSpPr/>
          <p:nvPr/>
        </p:nvSpPr>
        <p:spPr>
          <a:xfrm>
            <a:off x="6437376" y="3218688"/>
            <a:ext cx="603504" cy="603504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5" name="Image 2" descr="assets/ic_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3741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05472" y="292608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3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GB" sz="3300" noProof="0" dirty="0"/>
          </a:p>
        </p:txBody>
      </p:sp>
      <p:sp>
        <p:nvSpPr>
          <p:cNvPr id="17" name="Shape 12"/>
          <p:cNvSpPr/>
          <p:nvPr/>
        </p:nvSpPr>
        <p:spPr>
          <a:xfrm>
            <a:off x="9070848" y="3200400"/>
            <a:ext cx="0" cy="64008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Text 13"/>
          <p:cNvSpPr/>
          <p:nvPr/>
        </p:nvSpPr>
        <p:spPr>
          <a:xfrm>
            <a:off x="923544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GB" sz="115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quote-to-contract close rate — 4 in 5 stall after 'send'</a:t>
            </a:r>
            <a:endParaRPr lang="en-GB" sz="1150" noProof="0" dirty="0"/>
          </a:p>
        </p:txBody>
      </p:sp>
      <p:pic>
        <p:nvPicPr>
          <p:cNvPr id="19" name="Image 3" descr="assets/ic_users_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029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60704" y="4901184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GB" sz="1200" b="1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Felt by </a:t>
            </a:r>
            <a:r>
              <a:rPr lang="en-GB" sz="120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&amp; mid-size solar installers — teams booked solid on rooftops, with no time to personalize follow-up at scale.</a:t>
            </a:r>
            <a:endParaRPr lang="en-GB" sz="1200" noProof="0" dirty="0"/>
          </a:p>
        </p:txBody>
      </p:sp>
      <p:sp>
        <p:nvSpPr>
          <p:cNvPr id="3" name="Text 0"/>
          <p:cNvSpPr/>
          <p:nvPr/>
        </p:nvSpPr>
        <p:spPr>
          <a:xfrm>
            <a:off x="548640" y="466344"/>
            <a:ext cx="191851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45720" bIns="0" rtlCol="0" anchor="ctr"/>
          <a:lstStyle/>
          <a:p>
            <a:pPr marL="0" indent="0">
              <a:buNone/>
            </a:pPr>
            <a:r>
              <a:rPr lang="en-GB" sz="1250" b="1" kern="0" spc="250" noProof="0" dirty="0">
                <a:solidFill>
                  <a:srgbClr val="52B7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</a:t>
            </a:r>
            <a:r>
              <a:rPr lang="en-GB" sz="1250" b="1" kern="0" spc="25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GB" sz="12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58368"/>
            <a:ext cx="10274198" cy="0"/>
          </a:xfrm>
          <a:prstGeom prst="line">
            <a:avLst/>
          </a:prstGeom>
          <a:noFill/>
          <a:ln w="15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4" name="Image 0" descr="assets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430" y="310896"/>
            <a:ext cx="62545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r>
              <a:rPr lang="en-GB" sz="850" i="0" noProof="0" dirty="0" err="1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Tech:Europe</a:t>
            </a: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 AI × Energy Hackathon</a:t>
            </a:r>
            <a:endParaRPr lang="en-GB" sz="850" noProof="0" dirty="0"/>
          </a:p>
        </p:txBody>
      </p:sp>
      <p:sp>
        <p:nvSpPr>
          <p:cNvPr id="7" name="Text 4"/>
          <p:cNvSpPr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9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05</a:t>
            </a:r>
            <a:endParaRPr lang="en-GB" sz="900" noProof="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GB" sz="24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RayCiprocity is the AI closing layer on top of the quote — </a:t>
            </a:r>
            <a:r>
              <a:rPr lang="en-GB" sz="2400" b="1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diagnoses why each deal stalls and writes the persona-matched, multi-channel follow-up in one click.</a:t>
            </a:r>
            <a:endParaRPr lang="en-GB" sz="240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542032"/>
            <a:ext cx="11064240" cy="1481328"/>
          </a:xfrm>
          <a:prstGeom prst="rect">
            <a:avLst/>
          </a:prstGeom>
          <a:solidFill>
            <a:srgbClr val="1B4332"/>
          </a:solidFill>
          <a:ln/>
          <a:effectLst>
            <a:outerShdw blurRad="88900" dist="38100" dir="5400000" algn="bl" rotWithShape="0">
              <a:srgbClr val="1B4332">
                <a:alpha val="10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Shape 7"/>
          <p:cNvSpPr/>
          <p:nvPr/>
        </p:nvSpPr>
        <p:spPr>
          <a:xfrm>
            <a:off x="914400" y="2834640"/>
            <a:ext cx="859536" cy="859536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1" name="Image 1" descr="assets/ic_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307238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84832" y="274320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250" noProof="0" dirty="0">
                <a:solidFill>
                  <a:srgbClr val="95D5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INSIGHT</a:t>
            </a:r>
            <a:endParaRPr lang="en-GB" sz="1100" noProof="0" dirty="0"/>
          </a:p>
        </p:txBody>
      </p:sp>
      <p:sp>
        <p:nvSpPr>
          <p:cNvPr id="13" name="Text 9"/>
          <p:cNvSpPr/>
          <p:nvPr/>
        </p:nvSpPr>
        <p:spPr>
          <a:xfrm>
            <a:off x="2084832" y="3035808"/>
            <a:ext cx="9098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GB" sz="15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family and an investor need to hear completely different things — </a:t>
            </a:r>
            <a:r>
              <a:rPr lang="en-GB" sz="1500" noProof="0" dirty="0">
                <a:solidFill>
                  <a:srgbClr val="D8F3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no installer has time to write four bespoke sequences per lead. We make persona-tailored, reasoning-backed follow-up a one-click action.</a:t>
            </a:r>
            <a:endParaRPr lang="en-GB" sz="1500" noProof="0" dirty="0"/>
          </a:p>
        </p:txBody>
      </p:sp>
      <p:sp>
        <p:nvSpPr>
          <p:cNvPr id="14" name="Shape 10"/>
          <p:cNvSpPr/>
          <p:nvPr/>
        </p:nvSpPr>
        <p:spPr>
          <a:xfrm>
            <a:off x="548640" y="4443984"/>
            <a:ext cx="5029200" cy="1463040"/>
          </a:xfrm>
          <a:prstGeom prst="rect">
            <a:avLst/>
          </a:prstGeom>
          <a:solidFill>
            <a:srgbClr val="F4FBF6"/>
          </a:solidFill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Shape 11"/>
          <p:cNvSpPr/>
          <p:nvPr/>
        </p:nvSpPr>
        <p:spPr>
          <a:xfrm>
            <a:off x="548640" y="4443984"/>
            <a:ext cx="82296" cy="1463040"/>
          </a:xfrm>
          <a:prstGeom prst="rect">
            <a:avLst/>
          </a:prstGeom>
          <a:solidFill>
            <a:srgbClr val="7C9A8E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6" name="Text 12"/>
          <p:cNvSpPr/>
          <p:nvPr/>
        </p:nvSpPr>
        <p:spPr>
          <a:xfrm>
            <a:off x="841248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20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GB" sz="1100" noProof="0" dirty="0"/>
          </a:p>
        </p:txBody>
      </p:sp>
      <p:sp>
        <p:nvSpPr>
          <p:cNvPr id="17" name="Text 13"/>
          <p:cNvSpPr/>
          <p:nvPr/>
        </p:nvSpPr>
        <p:spPr>
          <a:xfrm>
            <a:off x="841248" y="495604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generic template blasted at every lead. A family and an investor get the same email — and most get ignored.</a:t>
            </a:r>
            <a:endParaRPr lang="en-GB" sz="1250" noProof="0" dirty="0"/>
          </a:p>
        </p:txBody>
      </p:sp>
      <p:pic>
        <p:nvPicPr>
          <p:cNvPr id="18" name="Image 2" descr="assets/ic_arrow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4919472"/>
            <a:ext cx="512064" cy="51206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583680" y="4443984"/>
            <a:ext cx="5029200" cy="1463040"/>
          </a:xfrm>
          <a:prstGeom prst="rect">
            <a:avLst/>
          </a:prstGeom>
          <a:solidFill>
            <a:srgbClr val="D8F3DC"/>
          </a:solidFill>
          <a:ln w="15875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0" name="Shape 15"/>
          <p:cNvSpPr/>
          <p:nvPr/>
        </p:nvSpPr>
        <p:spPr>
          <a:xfrm>
            <a:off x="6583680" y="4443984"/>
            <a:ext cx="82296" cy="1463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21" name="Text 16"/>
          <p:cNvSpPr/>
          <p:nvPr/>
        </p:nvSpPr>
        <p:spPr>
          <a:xfrm>
            <a:off x="6876288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20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RAYCIPROCITY</a:t>
            </a:r>
            <a:endParaRPr lang="en-GB" sz="1100" noProof="0" dirty="0"/>
          </a:p>
        </p:txBody>
      </p:sp>
      <p:sp>
        <p:nvSpPr>
          <p:cNvPr id="22" name="Text 17"/>
          <p:cNvSpPr/>
          <p:nvPr/>
        </p:nvSpPr>
        <p:spPr>
          <a:xfrm>
            <a:off x="6876288" y="495604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GB" sz="1250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lead is diagnosed — persona plus why it is stalling — then gets a multi-channel sequence with a reason for every touch.</a:t>
            </a:r>
            <a:endParaRPr lang="en-GB" sz="1250" noProof="0" dirty="0"/>
          </a:p>
        </p:txBody>
      </p:sp>
      <p:sp>
        <p:nvSpPr>
          <p:cNvPr id="2" name="Text 0"/>
          <p:cNvSpPr/>
          <p:nvPr/>
        </p:nvSpPr>
        <p:spPr>
          <a:xfrm>
            <a:off x="548640" y="466344"/>
            <a:ext cx="189004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45720" bIns="0" rtlCol="0" anchor="ctr"/>
          <a:lstStyle/>
          <a:p>
            <a:pPr marL="0" indent="0">
              <a:buNone/>
            </a:pPr>
            <a:r>
              <a:rPr lang="en-GB" sz="1250" b="1" kern="0" spc="250" noProof="0" dirty="0">
                <a:solidFill>
                  <a:srgbClr val="52B7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</a:t>
            </a:r>
            <a:r>
              <a:rPr lang="en-GB" sz="1250" b="1" kern="0" spc="25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GB" sz="12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58368"/>
            <a:ext cx="10274198" cy="0"/>
          </a:xfrm>
          <a:prstGeom prst="line">
            <a:avLst/>
          </a:prstGeom>
          <a:noFill/>
          <a:ln w="15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4" name="Image 0" descr="assets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430" y="310896"/>
            <a:ext cx="62545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r>
              <a:rPr lang="en-GB" sz="850" i="0" noProof="0" dirty="0" err="1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Tech:Europe</a:t>
            </a: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 AI × Energy Hackathon</a:t>
            </a:r>
            <a:endParaRPr lang="en-GB" sz="850" noProof="0" dirty="0"/>
          </a:p>
        </p:txBody>
      </p:sp>
      <p:sp>
        <p:nvSpPr>
          <p:cNvPr id="7" name="Text 4"/>
          <p:cNvSpPr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9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05</a:t>
            </a:r>
            <a:endParaRPr lang="en-GB" sz="900" noProof="0" dirty="0"/>
          </a:p>
        </p:txBody>
      </p:sp>
      <p:sp>
        <p:nvSpPr>
          <p:cNvPr id="8" name="Text 5"/>
          <p:cNvSpPr/>
          <p:nvPr/>
        </p:nvSpPr>
        <p:spPr>
          <a:xfrm>
            <a:off x="548640" y="1042416"/>
            <a:ext cx="11475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GB" sz="22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a customer's objection — </a:t>
            </a:r>
            <a:r>
              <a:rPr lang="en-GB" sz="2200" b="1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whole follow-up re-aim itself in seconds.</a:t>
            </a:r>
            <a:endParaRPr lang="en-GB" sz="2200" noProof="0" dirty="0"/>
          </a:p>
        </p:txBody>
      </p:sp>
      <p:sp>
        <p:nvSpPr>
          <p:cNvPr id="9" name="Text 6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GB" sz="1250" i="1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wow: generate a persona-matched plan, synthesize a voice note live with </a:t>
            </a:r>
            <a:r>
              <a:rPr lang="en-GB" sz="1250" i="1" noProof="0" dirty="0" err="1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r>
              <a:rPr lang="en-GB" sz="1250" i="1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paste a real objection — every unsent email, SMS and call rewrites to address it as the Oracle re-scores sign-vs-ghost.</a:t>
            </a:r>
            <a:endParaRPr lang="en-GB" sz="1250" noProof="0" dirty="0"/>
          </a:p>
        </p:txBody>
      </p:sp>
      <p:sp>
        <p:nvSpPr>
          <p:cNvPr id="10" name="Shape 7"/>
          <p:cNvSpPr/>
          <p:nvPr/>
        </p:nvSpPr>
        <p:spPr>
          <a:xfrm>
            <a:off x="1783080" y="2523744"/>
            <a:ext cx="8595360" cy="3493008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9050">
            <a:solidFill>
              <a:srgbClr val="CEEDDB"/>
            </a:solidFill>
            <a:prstDash val="solid"/>
          </a:ln>
          <a:effectLst>
            <a:outerShdw blurRad="88900" dist="38100" dir="5400000" algn="bl" rotWithShape="0">
              <a:srgbClr val="1B4332">
                <a:alpha val="10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Shape 8"/>
          <p:cNvSpPr/>
          <p:nvPr/>
        </p:nvSpPr>
        <p:spPr>
          <a:xfrm>
            <a:off x="1783080" y="2523744"/>
            <a:ext cx="8595360" cy="457200"/>
          </a:xfrm>
          <a:prstGeom prst="rect">
            <a:avLst/>
          </a:prstGeom>
          <a:solidFill>
            <a:srgbClr val="F4FBF6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Shape 9"/>
          <p:cNvSpPr/>
          <p:nvPr/>
        </p:nvSpPr>
        <p:spPr>
          <a:xfrm>
            <a:off x="1783080" y="2980944"/>
            <a:ext cx="8595360" cy="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3" name="Shape 10"/>
          <p:cNvSpPr/>
          <p:nvPr/>
        </p:nvSpPr>
        <p:spPr>
          <a:xfrm>
            <a:off x="2039112" y="2697480"/>
            <a:ext cx="118872" cy="118872"/>
          </a:xfrm>
          <a:prstGeom prst="ellipse">
            <a:avLst/>
          </a:prstGeom>
          <a:solidFill>
            <a:srgbClr val="95D5B2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4" name="Shape 11"/>
          <p:cNvSpPr/>
          <p:nvPr/>
        </p:nvSpPr>
        <p:spPr>
          <a:xfrm>
            <a:off x="2276856" y="2697480"/>
            <a:ext cx="118872" cy="1188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Shape 12"/>
          <p:cNvSpPr/>
          <p:nvPr/>
        </p:nvSpPr>
        <p:spPr>
          <a:xfrm>
            <a:off x="2514600" y="2697480"/>
            <a:ext cx="118872" cy="118872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6" name="Shape 13"/>
          <p:cNvSpPr/>
          <p:nvPr/>
        </p:nvSpPr>
        <p:spPr>
          <a:xfrm>
            <a:off x="3154680" y="2633472"/>
            <a:ext cx="365760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7" name="Text 14"/>
          <p:cNvSpPr/>
          <p:nvPr/>
        </p:nvSpPr>
        <p:spPr>
          <a:xfrm>
            <a:off x="3154680" y="263347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90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app.rayciprocity.com</a:t>
            </a:r>
            <a:endParaRPr lang="en-GB" sz="900" noProof="0" dirty="0"/>
          </a:p>
        </p:txBody>
      </p:sp>
      <p:sp>
        <p:nvSpPr>
          <p:cNvPr id="18" name="Shape 15"/>
          <p:cNvSpPr/>
          <p:nvPr/>
        </p:nvSpPr>
        <p:spPr>
          <a:xfrm>
            <a:off x="5577840" y="3529584"/>
            <a:ext cx="1005840" cy="100584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9" name="Image 1" descr="assets/ic_p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3822192"/>
            <a:ext cx="420624" cy="4206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783080" y="471830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2600" b="1" kern="0" spc="400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GB" sz="2600" noProof="0" dirty="0"/>
          </a:p>
        </p:txBody>
      </p:sp>
      <p:sp>
        <p:nvSpPr>
          <p:cNvPr id="21" name="Text 17"/>
          <p:cNvSpPr/>
          <p:nvPr/>
        </p:nvSpPr>
        <p:spPr>
          <a:xfrm>
            <a:off x="1783080" y="526694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100" i="1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product on screen-share · pre-cached voice note + recorded video as fallback.</a:t>
            </a:r>
            <a:endParaRPr lang="en-GB" sz="1100" noProof="0" dirty="0"/>
          </a:p>
        </p:txBody>
      </p:sp>
      <p:sp>
        <p:nvSpPr>
          <p:cNvPr id="2" name="Text 0"/>
          <p:cNvSpPr/>
          <p:nvPr/>
        </p:nvSpPr>
        <p:spPr>
          <a:xfrm>
            <a:off x="548640" y="466344"/>
            <a:ext cx="18470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45720" bIns="0" rtlCol="0" anchor="ctr"/>
          <a:lstStyle/>
          <a:p>
            <a:pPr marL="0" indent="0">
              <a:buNone/>
            </a:pPr>
            <a:r>
              <a:rPr lang="en-GB" sz="1250" b="1" kern="0" spc="250" noProof="0" dirty="0">
                <a:solidFill>
                  <a:srgbClr val="52B7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</a:t>
            </a:r>
            <a:r>
              <a:rPr lang="en-GB" sz="1250" b="1" kern="0" spc="25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GB" sz="12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58368"/>
            <a:ext cx="10274198" cy="0"/>
          </a:xfrm>
          <a:prstGeom prst="line">
            <a:avLst/>
          </a:prstGeom>
          <a:noFill/>
          <a:ln w="15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4" name="Image 0" descr="assets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430" y="310896"/>
            <a:ext cx="62545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r>
              <a:rPr lang="en-GB" sz="850" i="0" noProof="0" dirty="0" err="1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Tech:Europe</a:t>
            </a: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 AI × Energy Hackathon</a:t>
            </a:r>
            <a:endParaRPr lang="en-GB" sz="850" noProof="0" dirty="0"/>
          </a:p>
        </p:txBody>
      </p:sp>
      <p:sp>
        <p:nvSpPr>
          <p:cNvPr id="7" name="Text 4"/>
          <p:cNvSpPr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9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05</a:t>
            </a:r>
            <a:endParaRPr lang="en-GB" sz="900" noProof="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GB" sz="23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schema-validated AI agents on a multi-tenant core — </a:t>
            </a:r>
            <a:r>
              <a:rPr lang="en-GB" sz="2300" b="1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message traceable to a diagnosed reason.</a:t>
            </a:r>
            <a:endParaRPr lang="en-GB" sz="230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38328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EEDDB"/>
            </a:solidFill>
            <a:prstDash val="solid"/>
          </a:ln>
          <a:effectLst>
            <a:outerShdw blurRad="88900" dist="38100" dir="5400000" algn="bl" rotWithShape="0">
              <a:srgbClr val="1B4332">
                <a:alpha val="10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383280" cy="8229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Shape 8"/>
          <p:cNvSpPr/>
          <p:nvPr/>
        </p:nvSpPr>
        <p:spPr>
          <a:xfrm>
            <a:off x="822960" y="2532888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2" name="Image 1" descr="assets/ic_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6883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560320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b="1" kern="0" spc="100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DIAGNOSE</a:t>
            </a:r>
            <a:endParaRPr lang="en-GB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31821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GB" sz="105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(4 archetypes) + a 40-code Problem-Code stack — each with its evidence.</a:t>
            </a:r>
            <a:endParaRPr lang="en-GB" sz="1050" noProof="0" dirty="0"/>
          </a:p>
        </p:txBody>
      </p:sp>
      <p:sp>
        <p:nvSpPr>
          <p:cNvPr id="15" name="Shape 11"/>
          <p:cNvSpPr/>
          <p:nvPr/>
        </p:nvSpPr>
        <p:spPr>
          <a:xfrm>
            <a:off x="4389120" y="2286000"/>
            <a:ext cx="338328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EEDDB"/>
            </a:solidFill>
            <a:prstDash val="solid"/>
          </a:ln>
          <a:effectLst>
            <a:outerShdw blurRad="88900" dist="38100" dir="5400000" algn="bl" rotWithShape="0">
              <a:srgbClr val="1B4332">
                <a:alpha val="10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6" name="Shape 12"/>
          <p:cNvSpPr/>
          <p:nvPr/>
        </p:nvSpPr>
        <p:spPr>
          <a:xfrm>
            <a:off x="4389120" y="2286000"/>
            <a:ext cx="3383280" cy="8229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7" name="Shape 13"/>
          <p:cNvSpPr/>
          <p:nvPr/>
        </p:nvSpPr>
        <p:spPr>
          <a:xfrm>
            <a:off x="4663440" y="2532888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8" name="Image 2" descr="assets/ic_mess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68833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2560320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b="1" kern="0" spc="100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STRATEGIZE</a:t>
            </a:r>
            <a:endParaRPr lang="en-GB" sz="1300" noProof="0" dirty="0"/>
          </a:p>
        </p:txBody>
      </p:sp>
      <p:sp>
        <p:nvSpPr>
          <p:cNvPr id="20" name="Text 15"/>
          <p:cNvSpPr/>
          <p:nvPr/>
        </p:nvSpPr>
        <p:spPr>
          <a:xfrm>
            <a:off x="4663440" y="31821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GB" sz="105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multi-channel plan — email · SMS · call · voice — each step with its rationale + timing.</a:t>
            </a:r>
            <a:endParaRPr lang="en-GB" sz="1050" noProof="0" dirty="0"/>
          </a:p>
        </p:txBody>
      </p:sp>
      <p:sp>
        <p:nvSpPr>
          <p:cNvPr id="21" name="Shape 16"/>
          <p:cNvSpPr/>
          <p:nvPr/>
        </p:nvSpPr>
        <p:spPr>
          <a:xfrm>
            <a:off x="8229600" y="2286000"/>
            <a:ext cx="338328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CEEDDB"/>
            </a:solidFill>
            <a:prstDash val="solid"/>
          </a:ln>
          <a:effectLst>
            <a:outerShdw blurRad="88900" dist="38100" dir="5400000" algn="bl" rotWithShape="0">
              <a:srgbClr val="1B4332">
                <a:alpha val="10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22" name="Shape 17"/>
          <p:cNvSpPr/>
          <p:nvPr/>
        </p:nvSpPr>
        <p:spPr>
          <a:xfrm>
            <a:off x="8229600" y="2286000"/>
            <a:ext cx="3383280" cy="8229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23" name="Shape 18"/>
          <p:cNvSpPr/>
          <p:nvPr/>
        </p:nvSpPr>
        <p:spPr>
          <a:xfrm>
            <a:off x="8503920" y="2532888"/>
            <a:ext cx="585216" cy="58521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24" name="Image 3" descr="assets/ic_refres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268833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2560320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b="1" kern="0" spc="100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EXECUTE</a:t>
            </a:r>
            <a:endParaRPr lang="en-GB" sz="1300" noProof="0" dirty="0"/>
          </a:p>
        </p:txBody>
      </p:sp>
      <p:sp>
        <p:nvSpPr>
          <p:cNvPr id="26" name="Text 20"/>
          <p:cNvSpPr/>
          <p:nvPr/>
        </p:nvSpPr>
        <p:spPr>
          <a:xfrm>
            <a:off x="8503920" y="31821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GB" sz="105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auto-advances each send · Resend · Twilio · </a:t>
            </a:r>
            <a:r>
              <a:rPr lang="en-GB" sz="1050" noProof="0" dirty="0" err="1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ElevenLabs</a:t>
            </a:r>
            <a:r>
              <a:rPr lang="en-GB" sz="105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GB" sz="1050" noProof="0" dirty="0"/>
          </a:p>
        </p:txBody>
      </p:sp>
      <p:pic>
        <p:nvPicPr>
          <p:cNvPr id="27" name="Image 4" descr="assets/ic_arrow_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496" y="2825496"/>
            <a:ext cx="384048" cy="384048"/>
          </a:xfrm>
          <a:prstGeom prst="rect">
            <a:avLst/>
          </a:prstGeom>
        </p:spPr>
      </p:pic>
      <p:pic>
        <p:nvPicPr>
          <p:cNvPr id="28" name="Image 5" descr="assets/ic_arrow_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976" y="2825496"/>
            <a:ext cx="384048" cy="38404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389120" y="4041648"/>
            <a:ext cx="3383280" cy="950976"/>
          </a:xfrm>
          <a:prstGeom prst="rect">
            <a:avLst/>
          </a:prstGeom>
          <a:solidFill>
            <a:srgbClr val="D8F3DC"/>
          </a:solidFill>
          <a:ln w="15875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30" name="Shape 22"/>
          <p:cNvSpPr/>
          <p:nvPr/>
        </p:nvSpPr>
        <p:spPr>
          <a:xfrm>
            <a:off x="4645152" y="4279392"/>
            <a:ext cx="475488" cy="47548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31" name="Image 6" descr="assets/ic_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4407408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30368" y="4187952"/>
            <a:ext cx="2414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GB" sz="1150" b="1" kern="0" spc="10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CORE · RLS</a:t>
            </a:r>
            <a:endParaRPr lang="en-GB" sz="1150" noProof="0" dirty="0"/>
          </a:p>
          <a:p>
            <a:pPr marL="0" indent="0">
              <a:lnSpc>
                <a:spcPct val="116000"/>
              </a:lnSpc>
              <a:buNone/>
            </a:pPr>
            <a:r>
              <a:rPr lang="en-GB" sz="1050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 · per-installer Row-Level-Security · 10 tables, the source of truth.</a:t>
            </a:r>
            <a:endParaRPr lang="en-GB" sz="1150" noProof="0" dirty="0"/>
          </a:p>
        </p:txBody>
      </p:sp>
      <p:pic>
        <p:nvPicPr>
          <p:cNvPr id="33" name="Image 7" descr="assets/ic_arrow_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5934456" y="3785616"/>
            <a:ext cx="292608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548640" y="5193792"/>
            <a:ext cx="11064240" cy="89611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35" name="Shape 25"/>
          <p:cNvSpPr/>
          <p:nvPr/>
        </p:nvSpPr>
        <p:spPr>
          <a:xfrm>
            <a:off x="841248" y="5394960"/>
            <a:ext cx="493776" cy="493776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36" name="Image 8" descr="assets/ic_za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" y="5532120"/>
            <a:ext cx="219456" cy="21945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517904" y="530352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GB" sz="1250" b="1" noProof="0" dirty="0">
                <a:solidFill>
                  <a:srgbClr val="95D5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live loop:  </a:t>
            </a:r>
            <a:r>
              <a:rPr lang="en-GB" sz="125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“Oracle” scores sign-vs-ghost with evidence, and any inbound objection auto-rewrites every unsent message to address it — in seconds.</a:t>
            </a:r>
            <a:endParaRPr lang="en-GB" sz="1250" noProof="0" dirty="0"/>
          </a:p>
        </p:txBody>
      </p:sp>
      <p:sp>
        <p:nvSpPr>
          <p:cNvPr id="2" name="Text 0"/>
          <p:cNvSpPr/>
          <p:nvPr/>
        </p:nvSpPr>
        <p:spPr>
          <a:xfrm>
            <a:off x="548640" y="466344"/>
            <a:ext cx="189263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45720" bIns="0" rtlCol="0" anchor="ctr"/>
          <a:lstStyle/>
          <a:p>
            <a:pPr marL="0" indent="0">
              <a:buNone/>
            </a:pPr>
            <a:r>
              <a:rPr lang="en-GB" sz="1250" b="1" kern="0" spc="250" noProof="0" dirty="0">
                <a:solidFill>
                  <a:srgbClr val="52B7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</a:t>
            </a:r>
            <a:r>
              <a:rPr lang="en-GB" sz="1250" b="1" kern="0" spc="25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GB" sz="12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58368"/>
            <a:ext cx="10274198" cy="0"/>
          </a:xfrm>
          <a:prstGeom prst="line">
            <a:avLst/>
          </a:prstGeom>
          <a:noFill/>
          <a:ln w="15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pic>
        <p:nvPicPr>
          <p:cNvPr id="4" name="Image 0" descr="assets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430" y="310896"/>
            <a:ext cx="62545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364224"/>
            <a:ext cx="11064240" cy="0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</a:t>
            </a:r>
            <a:r>
              <a:rPr lang="en-GB" sz="850" i="0" noProof="0" dirty="0" err="1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Tech:Europe</a:t>
            </a:r>
            <a:r>
              <a:rPr lang="en-GB" sz="850" i="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 AI × Energy Hackathon</a:t>
            </a:r>
            <a:endParaRPr lang="en-GB" sz="850" noProof="0" dirty="0"/>
          </a:p>
        </p:txBody>
      </p:sp>
      <p:sp>
        <p:nvSpPr>
          <p:cNvPr id="7" name="Text 4"/>
          <p:cNvSpPr/>
          <p:nvPr/>
        </p:nvSpPr>
        <p:spPr>
          <a:xfrm>
            <a:off x="10424160" y="6419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9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05</a:t>
            </a:r>
            <a:endParaRPr lang="en-GB" sz="900" noProof="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GB" sz="24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one small installer, closing the post-quote gap is worth </a:t>
            </a:r>
            <a:r>
              <a:rPr lang="en-GB" sz="2400" b="1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€215,000 a year.</a:t>
            </a:r>
            <a:endParaRPr lang="en-GB" sz="240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383280" cy="1572768"/>
          </a:xfrm>
          <a:prstGeom prst="rect">
            <a:avLst/>
          </a:prstGeom>
          <a:solidFill>
            <a:srgbClr val="F4FBF6"/>
          </a:solidFill>
          <a:ln w="15875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383280" cy="8229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Shape 8"/>
          <p:cNvSpPr/>
          <p:nvPr/>
        </p:nvSpPr>
        <p:spPr>
          <a:xfrm>
            <a:off x="3108960" y="2542032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2" name="Image 1" descr="assets/ic_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6791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26700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1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€215K</a:t>
            </a:r>
            <a:endParaRPr lang="en-GB" sz="3100" noProof="0" dirty="0"/>
          </a:p>
        </p:txBody>
      </p:sp>
      <p:sp>
        <p:nvSpPr>
          <p:cNvPr id="14" name="Text 10"/>
          <p:cNvSpPr/>
          <p:nvPr/>
        </p:nvSpPr>
        <p:spPr>
          <a:xfrm>
            <a:off x="841248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GB" sz="11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recovered per year (≈ €18K / month)</a:t>
            </a:r>
            <a:endParaRPr lang="en-GB" sz="1100" noProof="0" dirty="0"/>
          </a:p>
        </p:txBody>
      </p:sp>
      <p:sp>
        <p:nvSpPr>
          <p:cNvPr id="15" name="Shape 11"/>
          <p:cNvSpPr/>
          <p:nvPr/>
        </p:nvSpPr>
        <p:spPr>
          <a:xfrm>
            <a:off x="4389120" y="2286000"/>
            <a:ext cx="3383280" cy="1572768"/>
          </a:xfrm>
          <a:prstGeom prst="rect">
            <a:avLst/>
          </a:prstGeom>
          <a:solidFill>
            <a:srgbClr val="F4FBF6"/>
          </a:solidFill>
          <a:ln w="15875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16" name="Shape 12"/>
          <p:cNvSpPr/>
          <p:nvPr/>
        </p:nvSpPr>
        <p:spPr>
          <a:xfrm>
            <a:off x="4389120" y="2286000"/>
            <a:ext cx="3383280" cy="8229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17" name="Shape 13"/>
          <p:cNvSpPr/>
          <p:nvPr/>
        </p:nvSpPr>
        <p:spPr>
          <a:xfrm>
            <a:off x="6949440" y="2542032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18" name="Image 2" descr="assets/ic_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6791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81728" y="26700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1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hrs</a:t>
            </a:r>
            <a:endParaRPr lang="en-GB" sz="3100" noProof="0" dirty="0"/>
          </a:p>
        </p:txBody>
      </p:sp>
      <p:sp>
        <p:nvSpPr>
          <p:cNvPr id="20" name="Text 15"/>
          <p:cNvSpPr/>
          <p:nvPr/>
        </p:nvSpPr>
        <p:spPr>
          <a:xfrm>
            <a:off x="4681728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GB" sz="11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 time freed every month (≈ €5.4K / yr)</a:t>
            </a:r>
            <a:endParaRPr lang="en-GB" sz="1100" noProof="0" dirty="0"/>
          </a:p>
        </p:txBody>
      </p:sp>
      <p:sp>
        <p:nvSpPr>
          <p:cNvPr id="21" name="Shape 16"/>
          <p:cNvSpPr/>
          <p:nvPr/>
        </p:nvSpPr>
        <p:spPr>
          <a:xfrm>
            <a:off x="8229600" y="2286000"/>
            <a:ext cx="3383280" cy="1572768"/>
          </a:xfrm>
          <a:prstGeom prst="rect">
            <a:avLst/>
          </a:prstGeom>
          <a:solidFill>
            <a:srgbClr val="F4FBF6"/>
          </a:solidFill>
          <a:ln w="15875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2" name="Shape 17"/>
          <p:cNvSpPr/>
          <p:nvPr/>
        </p:nvSpPr>
        <p:spPr>
          <a:xfrm>
            <a:off x="8229600" y="2286000"/>
            <a:ext cx="3383280" cy="82296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23" name="Shape 18"/>
          <p:cNvSpPr/>
          <p:nvPr/>
        </p:nvSpPr>
        <p:spPr>
          <a:xfrm>
            <a:off x="10789920" y="2542032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GB" noProof="0" dirty="0"/>
          </a:p>
        </p:txBody>
      </p:sp>
      <p:pic>
        <p:nvPicPr>
          <p:cNvPr id="24" name="Image 3" descr="assets/ic_z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267919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22208" y="26700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3100" b="1" noProof="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GB" sz="3100" noProof="0" dirty="0"/>
          </a:p>
        </p:txBody>
      </p:sp>
      <p:sp>
        <p:nvSpPr>
          <p:cNvPr id="26" name="Text 20"/>
          <p:cNvSpPr/>
          <p:nvPr/>
        </p:nvSpPr>
        <p:spPr>
          <a:xfrm>
            <a:off x="8522208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GB" sz="1100" noProof="0" dirty="0">
                <a:solidFill>
                  <a:srgbClr val="557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follow-up — 20 min down to 3 min per lead</a:t>
            </a:r>
            <a:endParaRPr lang="en-GB" sz="1100" noProof="0" dirty="0"/>
          </a:p>
        </p:txBody>
      </p:sp>
      <p:sp>
        <p:nvSpPr>
          <p:cNvPr id="27" name="Shape 21"/>
          <p:cNvSpPr/>
          <p:nvPr/>
        </p:nvSpPr>
        <p:spPr>
          <a:xfrm>
            <a:off x="6053328" y="4169664"/>
            <a:ext cx="0" cy="877824"/>
          </a:xfrm>
          <a:prstGeom prst="line">
            <a:avLst/>
          </a:prstGeom>
          <a:noFill/>
          <a:ln w="12700">
            <a:solidFill>
              <a:srgbClr val="CEEDDB"/>
            </a:solidFill>
            <a:prstDash val="solid"/>
          </a:ln>
        </p:spPr>
        <p:txBody>
          <a:bodyPr/>
          <a:lstStyle/>
          <a:p>
            <a:endParaRPr lang="en-GB" noProof="0" dirty="0"/>
          </a:p>
        </p:txBody>
      </p:sp>
      <p:sp>
        <p:nvSpPr>
          <p:cNvPr id="28" name="Text 22"/>
          <p:cNvSpPr/>
          <p:nvPr/>
        </p:nvSpPr>
        <p:spPr>
          <a:xfrm>
            <a:off x="548640" y="41513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20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PAYS</a:t>
            </a:r>
            <a:endParaRPr lang="en-GB" sz="1100" noProof="0" dirty="0"/>
          </a:p>
        </p:txBody>
      </p:sp>
      <p:sp>
        <p:nvSpPr>
          <p:cNvPr id="29" name="Text 23"/>
          <p:cNvSpPr/>
          <p:nvPr/>
        </p:nvSpPr>
        <p:spPr>
          <a:xfrm>
            <a:off x="548640" y="4462272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Solar installers — and </a:t>
            </a:r>
            <a:r>
              <a:rPr lang="en-GB" sz="1250" noProof="0" dirty="0" err="1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Reonic</a:t>
            </a: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as the recurring-revenue closing module that bolts onto their funnel. Multi-tenant B2B SaaS, per seat.</a:t>
            </a:r>
            <a:endParaRPr lang="en-GB" sz="1250" noProof="0" dirty="0"/>
          </a:p>
        </p:txBody>
      </p:sp>
      <p:sp>
        <p:nvSpPr>
          <p:cNvPr id="30" name="Text 24"/>
          <p:cNvSpPr/>
          <p:nvPr/>
        </p:nvSpPr>
        <p:spPr>
          <a:xfrm>
            <a:off x="6263640" y="41513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100" b="1" kern="0" spc="200" noProof="0" dirty="0">
                <a:solidFill>
                  <a:srgbClr val="7C9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GB" sz="1100" noProof="0" dirty="0"/>
          </a:p>
        </p:txBody>
      </p:sp>
      <p:sp>
        <p:nvSpPr>
          <p:cNvPr id="31" name="Text 25"/>
          <p:cNvSpPr/>
          <p:nvPr/>
        </p:nvSpPr>
        <p:spPr>
          <a:xfrm>
            <a:off x="6263640" y="4462272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Per-lead RAG (</a:t>
            </a:r>
            <a:r>
              <a:rPr lang="en-GB" sz="1250" noProof="0" dirty="0" err="1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pgvector</a:t>
            </a:r>
            <a:r>
              <a:rPr lang="en-GB" sz="1250" noProof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over full history · WhatsApp + survey channels · keep-warm cadence · DE/EN A/B strategy variants.</a:t>
            </a:r>
            <a:endParaRPr lang="en-GB" sz="1250" noProof="0" dirty="0"/>
          </a:p>
        </p:txBody>
      </p:sp>
      <p:sp>
        <p:nvSpPr>
          <p:cNvPr id="32" name="Shape 26"/>
          <p:cNvSpPr/>
          <p:nvPr/>
        </p:nvSpPr>
        <p:spPr>
          <a:xfrm>
            <a:off x="548640" y="5230368"/>
            <a:ext cx="11064240" cy="87782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GB" noProof="0" dirty="0"/>
          </a:p>
        </p:txBody>
      </p:sp>
      <p:sp>
        <p:nvSpPr>
          <p:cNvPr id="33" name="Text 27"/>
          <p:cNvSpPr/>
          <p:nvPr/>
        </p:nvSpPr>
        <p:spPr>
          <a:xfrm>
            <a:off x="914400" y="5230368"/>
            <a:ext cx="8778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200" b="1" i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turn quotes into contracts.</a:t>
            </a:r>
            <a:endParaRPr lang="en-GB" sz="2200" noProof="0" dirty="0"/>
          </a:p>
        </p:txBody>
      </p:sp>
      <p:pic>
        <p:nvPicPr>
          <p:cNvPr id="34" name="Image 4" descr="assets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5413248"/>
            <a:ext cx="713232" cy="52208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39" y="466344"/>
            <a:ext cx="1866757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45720" bIns="0" rtlCol="0" anchor="ctr"/>
          <a:lstStyle/>
          <a:p>
            <a:pPr marL="0" indent="0">
              <a:buNone/>
            </a:pPr>
            <a:r>
              <a:rPr lang="en-GB" sz="1250" b="1" kern="0" spc="250" noProof="0" dirty="0">
                <a:solidFill>
                  <a:srgbClr val="52B7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</a:t>
            </a:r>
            <a:r>
              <a:rPr lang="en-GB" sz="1250" b="1" kern="0" spc="250" noProof="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GB" sz="12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Custom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RayCiprocity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RayCiprocity — Pitch</dc:title>
  <dc:subject>PptxGenJS Presentation</dc:subject>
  <dc:creator>RayCiprocity</dc:creator>
  <cp:lastModifiedBy>Ian B</cp:lastModifiedBy>
  <cp:revision>4</cp:revision>
  <dcterms:created xsi:type="dcterms:W3CDTF">2026-06-21T09:36:09Z</dcterms:created>
  <dcterms:modified xsi:type="dcterms:W3CDTF">2026-06-21T10:29:17Z</dcterms:modified>
</cp:coreProperties>
</file>